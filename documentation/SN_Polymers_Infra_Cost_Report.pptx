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Monthly Infrastructure Cost (₹)</c:v>
                </c:pt>
              </c:strCache>
            </c:strRef>
          </c:tx>
          <c:spPr>
            <a:solidFill>
              <a:srgbClr val="86BC25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800" b="0" u="none" strike="noStrike">
                    <a:solidFill>
                      <a:srgbClr val="1A1A1A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30 users
(current)</c:v>
                </c:pt>
                <c:pt idx="1">
                  <c:v>50 users</c:v>
                </c:pt>
                <c:pt idx="2">
                  <c:v>100 users</c:v>
                </c:pt>
                <c:pt idx="3">
                  <c:v>250 users</c:v>
                </c:pt>
                <c:pt idx="4">
                  <c:v>500 users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4500</c:v>
                </c:pt>
                <c:pt idx="1">
                  <c:v>7250</c:v>
                </c:pt>
                <c:pt idx="2">
                  <c:v>10000</c:v>
                </c:pt>
                <c:pt idx="3">
                  <c:v>20000</c:v>
                </c:pt>
                <c:pt idx="4">
                  <c:v>50000</c:v>
                </c:pt>
              </c:numCache>
            </c:numRef>
          </c:val>
        </c:ser>
        <c:gapWidth val="150"/>
        <c:overlap val="0"/>
        <c:axId val="70190809"/>
        <c:axId val="15388851"/>
      </c:barChart>
      <c:catAx>
        <c:axId val="7019080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B6B6B"/>
                </a:solidFill>
                <a:uFillTx/>
                <a:latin typeface="Arial"/>
              </a:defRPr>
            </a:pPr>
          </a:p>
        </c:txPr>
        <c:crossAx val="15388851"/>
        <c:crosses val="autoZero"/>
        <c:auto val="1"/>
        <c:lblAlgn val="ctr"/>
        <c:lblOffset val="100"/>
        <c:noMultiLvlLbl val="0"/>
      </c:catAx>
      <c:valAx>
        <c:axId val="15388851"/>
        <c:scaling>
          <c:orientation val="minMax"/>
        </c:scaling>
        <c:delete val="0"/>
        <c:axPos val="l"/>
        <c:majorGridlines>
          <c:spPr>
            <a:ln w="6480">
              <a:solidFill>
                <a:srgbClr val="E8E8E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B6B6B"/>
                </a:solidFill>
                <a:uFillTx/>
                <a:latin typeface="Arial"/>
              </a:defRPr>
            </a:pPr>
          </a:p>
        </c:txPr>
        <c:crossAx val="7019080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51656F-FE75-476A-97AA-C2C8F59A2B16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3AEB8A-4C09-4E6B-94D2-ABCA4E6CB7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B8692B-0A5B-4F3F-91E7-D3CB7770D7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E7F58A-BF47-42A4-B002-1E8AD28F67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E81473-A031-4E7D-9C3A-6D29F7BEA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36638B-FA44-406B-A31E-D8F05D35A1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565823-95F3-421D-B7F9-0A0DA9DF40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D5A841-8F2D-4999-A235-A19DAC56F3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8AC1FD-3DC4-4085-A252-652D1399DA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01E6F0-3049-4FCA-B2EB-0AD87DA4AF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3E91CA-57EE-4650-B6D6-77D74A776C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217920" y="0"/>
            <a:ext cx="292536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82296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SN POLYMERS PVT. LTD.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1234440"/>
            <a:ext cx="54856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IN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Cost Report</a:t>
            </a:r>
            <a:endParaRPr lang="en-IN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2788920"/>
            <a:ext cx="5485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ERP Application — Cloud Infrastructure Planning &amp; Budget Analysis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3291840"/>
            <a:ext cx="457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June 2026  |  Internal Management Report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92240" y="1645920"/>
            <a:ext cx="237672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Prepared by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Research &amp; Development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Intern Team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492240" y="301752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D6EAA8"/>
                </a:solidFill>
                <a:effectLst/>
                <a:uFillTx/>
                <a:latin typeface="Calibri"/>
                <a:ea typeface="Calibri"/>
              </a:rPr>
              <a:t>IDBP 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0" y="4795920"/>
            <a:ext cx="6217200" cy="3466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274320" y="48236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292680" y="164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02920" y="128160"/>
            <a:ext cx="8320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Executive Summary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02920" y="5670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Management overview of ERP infrastructure cost and strategic approach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502920" y="868680"/>
            <a:ext cx="8320320" cy="26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502920" y="1024200"/>
            <a:ext cx="2605320" cy="278820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 w="0">
            <a:noFill/>
          </a:ln>
          <a:effectLst>
            <a:outerShdw algn="bl" blurRad="1015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502920" y="1024200"/>
            <a:ext cx="2605320" cy="3834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12720" y="104256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CHEAP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640080" y="1481400"/>
            <a:ext cx="233100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Begin with low-cost cloud setup (≈₹700/month). Vercel Hobby, Render Starter, Supabase Free tier — minimal risk, minimal spend.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3319200" y="1024200"/>
            <a:ext cx="2605320" cy="278820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 w="0">
            <a:noFill/>
          </a:ln>
          <a:effectLst>
            <a:outerShdw algn="bl" blurRad="1015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3319200" y="1024200"/>
            <a:ext cx="2605320" cy="383400"/>
          </a:xfrm>
          <a:prstGeom prst="rect">
            <a:avLst/>
          </a:prstGeom>
          <a:solidFill>
            <a:srgbClr val="00A0AF"/>
          </a:solidFill>
          <a:ln w="12700">
            <a:solidFill>
              <a:srgbClr val="00A0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3429000" y="104256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 LIVE READY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3456360" y="1481400"/>
            <a:ext cx="233100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Move to production-ready plan on go-live. Upgrade to Supabase Pro + Vercel Pro for reliability and backups (≈₹4,500/month).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6135480" y="1024200"/>
            <a:ext cx="2605320" cy="278820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 w="0">
            <a:noFill/>
          </a:ln>
          <a:effectLst>
            <a:outerShdw algn="bl" blurRad="1015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6135480" y="1024200"/>
            <a:ext cx="2605320" cy="3834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6245280" y="104256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GROW SMART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6272640" y="1481400"/>
            <a:ext cx="233100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Increase spend only when business grows beyond 30 users. No premature enterprise investment required.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502920" y="4005000"/>
            <a:ext cx="8320320" cy="593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777240" y="40417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₹1000-1800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777240" y="4297680"/>
            <a:ext cx="2285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Initial Deployment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3474720" y="40417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₹700–₹4,500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3474720" y="4297680"/>
            <a:ext cx="2285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Monthly Operating Cost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6172200" y="40417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₹2–₹4 Lakh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6172200" y="4297680"/>
            <a:ext cx="2285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Five-Year Estimate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0" y="4795920"/>
            <a:ext cx="914328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5"/>
          <p:cNvSpPr/>
          <p:nvPr/>
        </p:nvSpPr>
        <p:spPr>
          <a:xfrm>
            <a:off x="274320" y="48236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6"/>
          <p:cNvSpPr/>
          <p:nvPr/>
        </p:nvSpPr>
        <p:spPr>
          <a:xfrm>
            <a:off x="7772400" y="4823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2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292680" y="164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02920" y="128160"/>
            <a:ext cx="8320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One-Page Financial Snapshot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502920" y="5670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Summary spending band from minimum internal use to production-ready setup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502920" y="868680"/>
            <a:ext cx="8320320" cy="26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502920" y="987480"/>
            <a:ext cx="1919520" cy="1142280"/>
          </a:xfrm>
          <a:prstGeom prst="roundRect">
            <a:avLst>
              <a:gd name="adj" fmla="val 5600"/>
            </a:avLst>
          </a:prstGeom>
          <a:solidFill>
            <a:srgbClr val="86BC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548640" y="1042560"/>
            <a:ext cx="1828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₹25,000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548640" y="1645920"/>
            <a:ext cx="18280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Initial Deployment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2587680" y="987480"/>
            <a:ext cx="1919520" cy="1142280"/>
          </a:xfrm>
          <a:prstGeom prst="roundRect">
            <a:avLst>
              <a:gd name="adj" fmla="val 5600"/>
            </a:avLst>
          </a:prstGeom>
          <a:solidFill>
            <a:srgbClr val="00A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2633400" y="1042560"/>
            <a:ext cx="1828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₹700/mo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2633400" y="1645920"/>
            <a:ext cx="18280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Low-Cost Start (Option A)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4672440" y="987480"/>
            <a:ext cx="1919520" cy="1142280"/>
          </a:xfrm>
          <a:prstGeom prst="roundRect">
            <a:avLst>
              <a:gd name="adj" fmla="val 5600"/>
            </a:avLst>
          </a:prstGeom>
          <a:solidFill>
            <a:srgbClr val="404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4718160" y="1042560"/>
            <a:ext cx="1828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₹4,500/mo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4718160" y="1645920"/>
            <a:ext cx="18280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Production-Ready (Option B)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6757560" y="987480"/>
            <a:ext cx="1919520" cy="1142280"/>
          </a:xfrm>
          <a:prstGeom prst="roundRect">
            <a:avLst>
              <a:gd name="adj" fmla="val 5600"/>
            </a:avLst>
          </a:prstGeom>
          <a:solidFill>
            <a:srgbClr val="86BC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6803280" y="1042560"/>
            <a:ext cx="1828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₹2–4 Lakh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6803280" y="1645920"/>
            <a:ext cx="18280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5-Year Total Estimate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" name="Table 0"/>
          <p:cNvGraphicFramePr/>
          <p:nvPr/>
        </p:nvGraphicFramePr>
        <p:xfrm>
          <a:off x="502920" y="2331720"/>
          <a:ext cx="8320680" cy="1864080"/>
        </p:xfrm>
        <a:graphic>
          <a:graphicData uri="http://schemas.openxmlformats.org/drawingml/2006/table">
            <a:tbl>
              <a:tblPr/>
              <a:tblGrid>
                <a:gridCol w="5029200"/>
                <a:gridCol w="3291840"/>
              </a:tblGrid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Item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Cost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Initial Deployment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₹1000-1800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Monthly Operating Cost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₹700 – ₹4,500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Annual Operating Cost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₹8,400 – ₹54,000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Optional WhatsApp Business API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₹6,000 – ₹7,000 / year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Five-Year Estimate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₹2 Lakh – ₹4 Lakh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8E8E8"/>
                      </a:solidFill>
                      <a:prstDash val="solid"/>
                    </a:lnL>
                    <a:lnR w="6480">
                      <a:solidFill>
                        <a:srgbClr val="E8E8E8"/>
                      </a:solidFill>
                      <a:prstDash val="solid"/>
                    </a:lnR>
                    <a:lnT w="6480">
                      <a:solidFill>
                        <a:srgbClr val="E8E8E8"/>
                      </a:solidFill>
                      <a:prstDash val="solid"/>
                    </a:lnT>
                    <a:lnB w="648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Shape 17"/>
          <p:cNvSpPr/>
          <p:nvPr/>
        </p:nvSpPr>
        <p:spPr>
          <a:xfrm>
            <a:off x="0" y="4795920"/>
            <a:ext cx="914328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274320" y="48236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7772400" y="4823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3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292680" y="164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502920" y="128160"/>
            <a:ext cx="8320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Infrastructure Options: A, B &amp; C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502920" y="5670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Three phased cloud deployment options aligned with business growth stage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502920" y="868680"/>
            <a:ext cx="8320320" cy="26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502920" y="987480"/>
            <a:ext cx="2651040" cy="502200"/>
          </a:xfrm>
          <a:prstGeom prst="rect">
            <a:avLst/>
          </a:prstGeom>
          <a:solidFill>
            <a:srgbClr val="00A0AF"/>
          </a:solidFill>
          <a:ln w="12700">
            <a:solidFill>
              <a:srgbClr val="00A0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594360" y="1005840"/>
            <a:ext cx="1462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594360" y="1225440"/>
            <a:ext cx="2468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6EAA8"/>
                </a:solidFill>
                <a:effectLst/>
                <a:uFillTx/>
                <a:latin typeface="Calibri"/>
                <a:ea typeface="Calibri"/>
              </a:rPr>
              <a:t>Low-Cost Start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502920" y="15361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594360" y="15634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Frontend (Vercel Hobby)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2240280" y="15634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1"/>
          <p:cNvSpPr/>
          <p:nvPr/>
        </p:nvSpPr>
        <p:spPr>
          <a:xfrm>
            <a:off x="502920" y="18745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594360" y="1901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Backend (Render Starter)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2240280" y="19018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₹600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4"/>
          <p:cNvSpPr/>
          <p:nvPr/>
        </p:nvSpPr>
        <p:spPr>
          <a:xfrm>
            <a:off x="502920" y="22129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594360" y="22402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Database (Supabase Free)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2240280" y="22402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502920" y="25513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594360" y="25786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Domain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2240280" y="25786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₹80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502920" y="288936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594360" y="29170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Messaging (Telegram)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2240280" y="29170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3"/>
          <p:cNvSpPr/>
          <p:nvPr/>
        </p:nvSpPr>
        <p:spPr>
          <a:xfrm>
            <a:off x="502920" y="3227760"/>
            <a:ext cx="2651040" cy="328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4"/>
          <p:cNvSpPr/>
          <p:nvPr/>
        </p:nvSpPr>
        <p:spPr>
          <a:xfrm>
            <a:off x="594360" y="325512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5"/>
          <p:cNvSpPr/>
          <p:nvPr/>
        </p:nvSpPr>
        <p:spPr>
          <a:xfrm>
            <a:off x="2240280" y="325512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A0AF"/>
                </a:solidFill>
                <a:effectLst/>
                <a:uFillTx/>
                <a:latin typeface="Calibri"/>
                <a:ea typeface="Calibri"/>
              </a:rPr>
              <a:t>≈ ₹700/mo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6"/>
          <p:cNvSpPr/>
          <p:nvPr/>
        </p:nvSpPr>
        <p:spPr>
          <a:xfrm>
            <a:off x="502920" y="4498920"/>
            <a:ext cx="2651040" cy="291960"/>
          </a:xfrm>
          <a:prstGeom prst="roundRect">
            <a:avLst>
              <a:gd name="adj" fmla="val 15625"/>
            </a:avLst>
          </a:prstGeom>
          <a:solidFill>
            <a:srgbClr val="00A0AF">
              <a:alpha val="20000"/>
            </a:srgbClr>
          </a:solidFill>
          <a:ln w="12700">
            <a:solidFill>
              <a:srgbClr val="00A0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7"/>
          <p:cNvSpPr/>
          <p:nvPr/>
        </p:nvSpPr>
        <p:spPr>
          <a:xfrm>
            <a:off x="576000" y="4507920"/>
            <a:ext cx="2504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0AF"/>
                </a:solidFill>
                <a:effectLst/>
                <a:uFillTx/>
                <a:latin typeface="Calibri"/>
                <a:ea typeface="Calibri"/>
              </a:rPr>
              <a:t>Pilot / controlled rollout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8"/>
          <p:cNvSpPr/>
          <p:nvPr/>
        </p:nvSpPr>
        <p:spPr>
          <a:xfrm>
            <a:off x="3337560" y="987480"/>
            <a:ext cx="2651040" cy="5022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9"/>
          <p:cNvSpPr/>
          <p:nvPr/>
        </p:nvSpPr>
        <p:spPr>
          <a:xfrm>
            <a:off x="3429000" y="1005840"/>
            <a:ext cx="1462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B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0"/>
          <p:cNvSpPr/>
          <p:nvPr/>
        </p:nvSpPr>
        <p:spPr>
          <a:xfrm>
            <a:off x="3429000" y="1225440"/>
            <a:ext cx="2468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6EAA8"/>
                </a:solidFill>
                <a:effectLst/>
                <a:uFillTx/>
                <a:latin typeface="Calibri"/>
                <a:ea typeface="Calibri"/>
              </a:rPr>
              <a:t>Production Ready ✓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1"/>
          <p:cNvSpPr/>
          <p:nvPr/>
        </p:nvSpPr>
        <p:spPr>
          <a:xfrm>
            <a:off x="3337560" y="15361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2"/>
          <p:cNvSpPr/>
          <p:nvPr/>
        </p:nvSpPr>
        <p:spPr>
          <a:xfrm>
            <a:off x="3429000" y="15634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Frontend (Vercel Pro)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3"/>
          <p:cNvSpPr/>
          <p:nvPr/>
        </p:nvSpPr>
        <p:spPr>
          <a:xfrm>
            <a:off x="5074920" y="15634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₹1,700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4"/>
          <p:cNvSpPr/>
          <p:nvPr/>
        </p:nvSpPr>
        <p:spPr>
          <a:xfrm>
            <a:off x="3337560" y="18745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5"/>
          <p:cNvSpPr/>
          <p:nvPr/>
        </p:nvSpPr>
        <p:spPr>
          <a:xfrm>
            <a:off x="3429000" y="1901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Backend (Render Starter)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6"/>
          <p:cNvSpPr/>
          <p:nvPr/>
        </p:nvSpPr>
        <p:spPr>
          <a:xfrm>
            <a:off x="5074920" y="19018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₹600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7"/>
          <p:cNvSpPr/>
          <p:nvPr/>
        </p:nvSpPr>
        <p:spPr>
          <a:xfrm>
            <a:off x="3337560" y="22129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8"/>
          <p:cNvSpPr/>
          <p:nvPr/>
        </p:nvSpPr>
        <p:spPr>
          <a:xfrm>
            <a:off x="3429000" y="22402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Database (Supabase Pro)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9"/>
          <p:cNvSpPr/>
          <p:nvPr/>
        </p:nvSpPr>
        <p:spPr>
          <a:xfrm>
            <a:off x="5074920" y="22402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₹2,100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0"/>
          <p:cNvSpPr/>
          <p:nvPr/>
        </p:nvSpPr>
        <p:spPr>
          <a:xfrm>
            <a:off x="3337560" y="25513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1"/>
          <p:cNvSpPr/>
          <p:nvPr/>
        </p:nvSpPr>
        <p:spPr>
          <a:xfrm>
            <a:off x="3429000" y="25786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Domain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2"/>
          <p:cNvSpPr/>
          <p:nvPr/>
        </p:nvSpPr>
        <p:spPr>
          <a:xfrm>
            <a:off x="5074920" y="25786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₹80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3"/>
          <p:cNvSpPr/>
          <p:nvPr/>
        </p:nvSpPr>
        <p:spPr>
          <a:xfrm>
            <a:off x="3337560" y="288936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4"/>
          <p:cNvSpPr/>
          <p:nvPr/>
        </p:nvSpPr>
        <p:spPr>
          <a:xfrm>
            <a:off x="3429000" y="29170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45"/>
          <p:cNvSpPr/>
          <p:nvPr/>
        </p:nvSpPr>
        <p:spPr>
          <a:xfrm>
            <a:off x="5074920" y="29170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Shape 46"/>
          <p:cNvSpPr/>
          <p:nvPr/>
        </p:nvSpPr>
        <p:spPr>
          <a:xfrm>
            <a:off x="3337560" y="3227760"/>
            <a:ext cx="2651040" cy="328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7"/>
          <p:cNvSpPr/>
          <p:nvPr/>
        </p:nvSpPr>
        <p:spPr>
          <a:xfrm>
            <a:off x="3429000" y="325512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8"/>
          <p:cNvSpPr/>
          <p:nvPr/>
        </p:nvSpPr>
        <p:spPr>
          <a:xfrm>
            <a:off x="5074920" y="325512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₹4,500/mo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9"/>
          <p:cNvSpPr/>
          <p:nvPr/>
        </p:nvSpPr>
        <p:spPr>
          <a:xfrm>
            <a:off x="3337560" y="4498920"/>
            <a:ext cx="2651040" cy="291960"/>
          </a:xfrm>
          <a:prstGeom prst="roundRect">
            <a:avLst>
              <a:gd name="adj" fmla="val 15625"/>
            </a:avLst>
          </a:prstGeom>
          <a:solidFill>
            <a:srgbClr val="86BC25">
              <a:alpha val="20000"/>
            </a:srgbClr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0"/>
          <p:cNvSpPr/>
          <p:nvPr/>
        </p:nvSpPr>
        <p:spPr>
          <a:xfrm>
            <a:off x="3410640" y="4507920"/>
            <a:ext cx="2504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Recommended for go-live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1"/>
          <p:cNvSpPr/>
          <p:nvPr/>
        </p:nvSpPr>
        <p:spPr>
          <a:xfrm>
            <a:off x="6172200" y="987480"/>
            <a:ext cx="2651040" cy="5022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2"/>
          <p:cNvSpPr/>
          <p:nvPr/>
        </p:nvSpPr>
        <p:spPr>
          <a:xfrm>
            <a:off x="6263640" y="1005840"/>
            <a:ext cx="1462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C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3"/>
          <p:cNvSpPr/>
          <p:nvPr/>
        </p:nvSpPr>
        <p:spPr>
          <a:xfrm>
            <a:off x="6263640" y="1225440"/>
            <a:ext cx="2468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6EAA8"/>
                </a:solidFill>
                <a:effectLst/>
                <a:uFillTx/>
                <a:latin typeface="Calibri"/>
                <a:ea typeface="Calibri"/>
              </a:rPr>
              <a:t>Enterprise Growth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4"/>
          <p:cNvSpPr/>
          <p:nvPr/>
        </p:nvSpPr>
        <p:spPr>
          <a:xfrm>
            <a:off x="6172200" y="15361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5"/>
          <p:cNvSpPr/>
          <p:nvPr/>
        </p:nvSpPr>
        <p:spPr>
          <a:xfrm>
            <a:off x="6263640" y="15634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Moderate growth (100+ users)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6"/>
          <p:cNvSpPr/>
          <p:nvPr/>
        </p:nvSpPr>
        <p:spPr>
          <a:xfrm>
            <a:off x="7909560" y="15634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₹10,000+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7"/>
          <p:cNvSpPr/>
          <p:nvPr/>
        </p:nvSpPr>
        <p:spPr>
          <a:xfrm>
            <a:off x="6172200" y="18745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8"/>
          <p:cNvSpPr/>
          <p:nvPr/>
        </p:nvSpPr>
        <p:spPr>
          <a:xfrm>
            <a:off x="6263640" y="1901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Strong growth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9"/>
          <p:cNvSpPr/>
          <p:nvPr/>
        </p:nvSpPr>
        <p:spPr>
          <a:xfrm>
            <a:off x="7909560" y="19018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₹20,000+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60"/>
          <p:cNvSpPr/>
          <p:nvPr/>
        </p:nvSpPr>
        <p:spPr>
          <a:xfrm>
            <a:off x="6172200" y="22129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1"/>
          <p:cNvSpPr/>
          <p:nvPr/>
        </p:nvSpPr>
        <p:spPr>
          <a:xfrm>
            <a:off x="6263640" y="22402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Enterprise-style setup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2"/>
          <p:cNvSpPr/>
          <p:nvPr/>
        </p:nvSpPr>
        <p:spPr>
          <a:xfrm>
            <a:off x="7909560" y="22402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₹50,000+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3"/>
          <p:cNvSpPr/>
          <p:nvPr/>
        </p:nvSpPr>
        <p:spPr>
          <a:xfrm>
            <a:off x="6172200" y="255132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4"/>
          <p:cNvSpPr/>
          <p:nvPr/>
        </p:nvSpPr>
        <p:spPr>
          <a:xfrm>
            <a:off x="6263640" y="25786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65"/>
          <p:cNvSpPr/>
          <p:nvPr/>
        </p:nvSpPr>
        <p:spPr>
          <a:xfrm>
            <a:off x="7909560" y="25786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6"/>
          <p:cNvSpPr/>
          <p:nvPr/>
        </p:nvSpPr>
        <p:spPr>
          <a:xfrm>
            <a:off x="6172200" y="2889360"/>
            <a:ext cx="265104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7"/>
          <p:cNvSpPr/>
          <p:nvPr/>
        </p:nvSpPr>
        <p:spPr>
          <a:xfrm>
            <a:off x="6263640" y="29170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68"/>
          <p:cNvSpPr/>
          <p:nvPr/>
        </p:nvSpPr>
        <p:spPr>
          <a:xfrm>
            <a:off x="7909560" y="291708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Shape 69"/>
          <p:cNvSpPr/>
          <p:nvPr/>
        </p:nvSpPr>
        <p:spPr>
          <a:xfrm>
            <a:off x="6172200" y="3227760"/>
            <a:ext cx="2651040" cy="328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0"/>
          <p:cNvSpPr/>
          <p:nvPr/>
        </p:nvSpPr>
        <p:spPr>
          <a:xfrm>
            <a:off x="6263640" y="325512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1"/>
          <p:cNvSpPr/>
          <p:nvPr/>
        </p:nvSpPr>
        <p:spPr>
          <a:xfrm>
            <a:off x="7909560" y="3255120"/>
            <a:ext cx="84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Scale-based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72"/>
          <p:cNvSpPr/>
          <p:nvPr/>
        </p:nvSpPr>
        <p:spPr>
          <a:xfrm>
            <a:off x="6172200" y="4498920"/>
            <a:ext cx="2651040" cy="291960"/>
          </a:xfrm>
          <a:prstGeom prst="roundRect">
            <a:avLst>
              <a:gd name="adj" fmla="val 15625"/>
            </a:avLst>
          </a:prstGeom>
          <a:solidFill>
            <a:srgbClr val="404040">
              <a:alpha val="20000"/>
            </a:srgbClr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73"/>
          <p:cNvSpPr/>
          <p:nvPr/>
        </p:nvSpPr>
        <p:spPr>
          <a:xfrm>
            <a:off x="6245280" y="4507920"/>
            <a:ext cx="2504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Future planning only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74"/>
          <p:cNvSpPr/>
          <p:nvPr/>
        </p:nvSpPr>
        <p:spPr>
          <a:xfrm>
            <a:off x="0" y="4795920"/>
            <a:ext cx="914328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5"/>
          <p:cNvSpPr/>
          <p:nvPr/>
        </p:nvSpPr>
        <p:spPr>
          <a:xfrm>
            <a:off x="274320" y="48236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6"/>
          <p:cNvSpPr/>
          <p:nvPr/>
        </p:nvSpPr>
        <p:spPr>
          <a:xfrm>
            <a:off x="7772400" y="4823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4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292680" y="164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502920" y="128160"/>
            <a:ext cx="8320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CAPEX vs. OPEX Classification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502920" y="5670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Structured view for management budgeting and financial approval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502920" y="868680"/>
            <a:ext cx="8320320" cy="26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502920" y="987480"/>
            <a:ext cx="3931200" cy="365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594360" y="1005840"/>
            <a:ext cx="374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CAPEX — One-Time Costs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502920" y="1389960"/>
            <a:ext cx="3931200" cy="31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594360" y="141732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Deployment (Domain Costing)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3017520" y="1417320"/>
            <a:ext cx="1343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₹1,000 – ₹1,800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502920" y="1719000"/>
            <a:ext cx="3931200" cy="319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594360" y="174636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Configuration &amp; Integrations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3017520" y="1746360"/>
            <a:ext cx="1343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₹5,000 – ₹10,000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502920" y="2048400"/>
            <a:ext cx="3931200" cy="31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594360" y="207576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DNS &amp; Domain Registration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3017520" y="2075760"/>
            <a:ext cx="1343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₹900 – ₹2,500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502920" y="2377440"/>
            <a:ext cx="3931200" cy="319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594360" y="240480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Testing &amp; Workflow Validation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3017520" y="2404800"/>
            <a:ext cx="1343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₹5,000 – ₹10,000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9"/>
          <p:cNvSpPr/>
          <p:nvPr/>
        </p:nvSpPr>
        <p:spPr>
          <a:xfrm>
            <a:off x="502920" y="2706480"/>
            <a:ext cx="3931200" cy="31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594360" y="273420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Go-Live Support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3017520" y="2734200"/>
            <a:ext cx="1343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₹3,000 – ₹8,000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502920" y="3035880"/>
            <a:ext cx="3931200" cy="319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3"/>
          <p:cNvSpPr/>
          <p:nvPr/>
        </p:nvSpPr>
        <p:spPr>
          <a:xfrm>
            <a:off x="594360" y="306324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 CAPEX Estimate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4"/>
          <p:cNvSpPr/>
          <p:nvPr/>
        </p:nvSpPr>
        <p:spPr>
          <a:xfrm>
            <a:off x="3017520" y="3063240"/>
            <a:ext cx="1343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₹25,000 (plan)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5"/>
          <p:cNvSpPr/>
          <p:nvPr/>
        </p:nvSpPr>
        <p:spPr>
          <a:xfrm>
            <a:off x="4800600" y="987480"/>
            <a:ext cx="4022640" cy="3650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6"/>
          <p:cNvSpPr/>
          <p:nvPr/>
        </p:nvSpPr>
        <p:spPr>
          <a:xfrm>
            <a:off x="4892040" y="1005840"/>
            <a:ext cx="3839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OPEX — Recurring Costs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4800600" y="1389960"/>
            <a:ext cx="4022640" cy="31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8"/>
          <p:cNvSpPr/>
          <p:nvPr/>
        </p:nvSpPr>
        <p:spPr>
          <a:xfrm>
            <a:off x="4892040" y="141732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Hosting (Frontend + Backend)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9"/>
          <p:cNvSpPr/>
          <p:nvPr/>
        </p:nvSpPr>
        <p:spPr>
          <a:xfrm>
            <a:off x="7315200" y="1417320"/>
            <a:ext cx="14349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₹600–₹2,300/month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0"/>
          <p:cNvSpPr/>
          <p:nvPr/>
        </p:nvSpPr>
        <p:spPr>
          <a:xfrm>
            <a:off x="4800600" y="1719000"/>
            <a:ext cx="4022640" cy="319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1"/>
          <p:cNvSpPr/>
          <p:nvPr/>
        </p:nvSpPr>
        <p:spPr>
          <a:xfrm>
            <a:off x="4892040" y="174636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Database (Supabase)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2"/>
          <p:cNvSpPr/>
          <p:nvPr/>
        </p:nvSpPr>
        <p:spPr>
          <a:xfrm>
            <a:off x="7315200" y="1746360"/>
            <a:ext cx="14349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₹0–₹2,100/month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3"/>
          <p:cNvSpPr/>
          <p:nvPr/>
        </p:nvSpPr>
        <p:spPr>
          <a:xfrm>
            <a:off x="4800600" y="2048400"/>
            <a:ext cx="4022640" cy="31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4"/>
          <p:cNvSpPr/>
          <p:nvPr/>
        </p:nvSpPr>
        <p:spPr>
          <a:xfrm>
            <a:off x="4892040" y="207576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Domain Renewal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5"/>
          <p:cNvSpPr/>
          <p:nvPr/>
        </p:nvSpPr>
        <p:spPr>
          <a:xfrm>
            <a:off x="7315200" y="2075760"/>
            <a:ext cx="14349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₹80/month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6"/>
          <p:cNvSpPr/>
          <p:nvPr/>
        </p:nvSpPr>
        <p:spPr>
          <a:xfrm>
            <a:off x="4800600" y="2377440"/>
            <a:ext cx="4022640" cy="319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7"/>
          <p:cNvSpPr/>
          <p:nvPr/>
        </p:nvSpPr>
        <p:spPr>
          <a:xfrm>
            <a:off x="4892040" y="240480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App Support &amp; Maintenance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8"/>
          <p:cNvSpPr/>
          <p:nvPr/>
        </p:nvSpPr>
        <p:spPr>
          <a:xfrm>
            <a:off x="7315200" y="2404800"/>
            <a:ext cx="14349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₹1,000+/month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9"/>
          <p:cNvSpPr/>
          <p:nvPr/>
        </p:nvSpPr>
        <p:spPr>
          <a:xfrm>
            <a:off x="4800600" y="2706480"/>
            <a:ext cx="4022640" cy="31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0"/>
          <p:cNvSpPr/>
          <p:nvPr/>
        </p:nvSpPr>
        <p:spPr>
          <a:xfrm>
            <a:off x="4892040" y="273420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Cloud Services (backups, logs)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1"/>
          <p:cNvSpPr/>
          <p:nvPr/>
        </p:nvSpPr>
        <p:spPr>
          <a:xfrm>
            <a:off x="7315200" y="2734200"/>
            <a:ext cx="14349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Variable by usage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2"/>
          <p:cNvSpPr/>
          <p:nvPr/>
        </p:nvSpPr>
        <p:spPr>
          <a:xfrm>
            <a:off x="4800600" y="3035880"/>
            <a:ext cx="4022640" cy="319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3"/>
          <p:cNvSpPr/>
          <p:nvPr/>
        </p:nvSpPr>
        <p:spPr>
          <a:xfrm>
            <a:off x="4892040" y="3063240"/>
            <a:ext cx="2468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Total OPEX Estimate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4"/>
          <p:cNvSpPr/>
          <p:nvPr/>
        </p:nvSpPr>
        <p:spPr>
          <a:xfrm>
            <a:off x="7315200" y="3063240"/>
            <a:ext cx="14349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₹700–₹4,500/month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5"/>
          <p:cNvSpPr/>
          <p:nvPr/>
        </p:nvSpPr>
        <p:spPr>
          <a:xfrm>
            <a:off x="0" y="4795920"/>
            <a:ext cx="914328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6"/>
          <p:cNvSpPr/>
          <p:nvPr/>
        </p:nvSpPr>
        <p:spPr>
          <a:xfrm>
            <a:off x="274320" y="48236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7"/>
          <p:cNvSpPr/>
          <p:nvPr/>
        </p:nvSpPr>
        <p:spPr>
          <a:xfrm>
            <a:off x="7772400" y="4823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5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292680" y="164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502920" y="128160"/>
            <a:ext cx="8320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Annual Maintenance &amp; Support Cost Structure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502920" y="5670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Categorised as Mandatory, Operational, and Optional spend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"/>
          <p:cNvSpPr/>
          <p:nvPr/>
        </p:nvSpPr>
        <p:spPr>
          <a:xfrm>
            <a:off x="502920" y="868680"/>
            <a:ext cx="8320320" cy="26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502920" y="987480"/>
            <a:ext cx="269676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594360" y="1005840"/>
            <a:ext cx="25138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MANDATORY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7"/>
          <p:cNvSpPr/>
          <p:nvPr/>
        </p:nvSpPr>
        <p:spPr>
          <a:xfrm>
            <a:off x="502920" y="137160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612720" y="139896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Hosting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1920240" y="139896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₹7,200–₹27,600/yr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502920" y="184716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612720" y="18745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Domain Renewal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1920240" y="187452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₹900/yr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3"/>
          <p:cNvSpPr/>
          <p:nvPr/>
        </p:nvSpPr>
        <p:spPr>
          <a:xfrm>
            <a:off x="502920" y="232272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612720" y="235008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1920240" y="235008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₹0–₹25,200/yr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6"/>
          <p:cNvSpPr/>
          <p:nvPr/>
        </p:nvSpPr>
        <p:spPr>
          <a:xfrm>
            <a:off x="3355920" y="987480"/>
            <a:ext cx="2696760" cy="34668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3447360" y="1005840"/>
            <a:ext cx="25138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OPERATIONAL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8"/>
          <p:cNvSpPr/>
          <p:nvPr/>
        </p:nvSpPr>
        <p:spPr>
          <a:xfrm>
            <a:off x="3355920" y="137160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9"/>
          <p:cNvSpPr/>
          <p:nvPr/>
        </p:nvSpPr>
        <p:spPr>
          <a:xfrm>
            <a:off x="3465720" y="139896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Annual App Support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4773240" y="139896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₹15,000–₹40,000/yr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1"/>
          <p:cNvSpPr/>
          <p:nvPr/>
        </p:nvSpPr>
        <p:spPr>
          <a:xfrm>
            <a:off x="3355920" y="184716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3465720" y="18745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Feature Requests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4773240" y="187452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₹20,000–₹60,000/yr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4"/>
          <p:cNvSpPr/>
          <p:nvPr/>
        </p:nvSpPr>
        <p:spPr>
          <a:xfrm>
            <a:off x="3355920" y="232272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5"/>
          <p:cNvSpPr/>
          <p:nvPr/>
        </p:nvSpPr>
        <p:spPr>
          <a:xfrm>
            <a:off x="3465720" y="235008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Security Updates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6"/>
          <p:cNvSpPr/>
          <p:nvPr/>
        </p:nvSpPr>
        <p:spPr>
          <a:xfrm>
            <a:off x="4773240" y="235008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₹5,000–₹15,000/yr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7"/>
          <p:cNvSpPr/>
          <p:nvPr/>
        </p:nvSpPr>
        <p:spPr>
          <a:xfrm>
            <a:off x="3355920" y="279792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8"/>
          <p:cNvSpPr/>
          <p:nvPr/>
        </p:nvSpPr>
        <p:spPr>
          <a:xfrm>
            <a:off x="3465720" y="282564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DB Optimisation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9"/>
          <p:cNvSpPr/>
          <p:nvPr/>
        </p:nvSpPr>
        <p:spPr>
          <a:xfrm>
            <a:off x="4773240" y="282564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₹5,000–₹12,000/yr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30"/>
          <p:cNvSpPr/>
          <p:nvPr/>
        </p:nvSpPr>
        <p:spPr>
          <a:xfrm>
            <a:off x="6208920" y="987480"/>
            <a:ext cx="2696760" cy="346680"/>
          </a:xfrm>
          <a:prstGeom prst="rect">
            <a:avLst/>
          </a:prstGeom>
          <a:solidFill>
            <a:srgbClr val="00A0AF"/>
          </a:solidFill>
          <a:ln w="12700">
            <a:solidFill>
              <a:srgbClr val="00A0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1"/>
          <p:cNvSpPr/>
          <p:nvPr/>
        </p:nvSpPr>
        <p:spPr>
          <a:xfrm>
            <a:off x="6300360" y="1005840"/>
            <a:ext cx="25138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2"/>
          <p:cNvSpPr/>
          <p:nvPr/>
        </p:nvSpPr>
        <p:spPr>
          <a:xfrm>
            <a:off x="6208920" y="137160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3"/>
          <p:cNvSpPr/>
          <p:nvPr/>
        </p:nvSpPr>
        <p:spPr>
          <a:xfrm>
            <a:off x="6318360" y="139896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WhatsApp Business API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4"/>
          <p:cNvSpPr/>
          <p:nvPr/>
        </p:nvSpPr>
        <p:spPr>
          <a:xfrm>
            <a:off x="7626240" y="139896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0AF"/>
                </a:solidFill>
                <a:effectLst/>
                <a:uFillTx/>
                <a:latin typeface="Calibri"/>
                <a:ea typeface="Calibri"/>
              </a:rPr>
              <a:t>₹6,000–₹7,000/yr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5"/>
          <p:cNvSpPr/>
          <p:nvPr/>
        </p:nvSpPr>
        <p:spPr>
          <a:xfrm>
            <a:off x="6208920" y="184716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6"/>
          <p:cNvSpPr/>
          <p:nvPr/>
        </p:nvSpPr>
        <p:spPr>
          <a:xfrm>
            <a:off x="6318360" y="18745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Analytics Tools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7"/>
          <p:cNvSpPr/>
          <p:nvPr/>
        </p:nvSpPr>
        <p:spPr>
          <a:xfrm>
            <a:off x="7626240" y="187452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0AF"/>
                </a:solidFill>
                <a:effectLst/>
                <a:uFillTx/>
                <a:latin typeface="Calibri"/>
                <a:ea typeface="Calibri"/>
              </a:rPr>
              <a:t>₹3,000–₹15,000/yr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8"/>
          <p:cNvSpPr/>
          <p:nvPr/>
        </p:nvSpPr>
        <p:spPr>
          <a:xfrm>
            <a:off x="6208920" y="232272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9"/>
          <p:cNvSpPr/>
          <p:nvPr/>
        </p:nvSpPr>
        <p:spPr>
          <a:xfrm>
            <a:off x="6318360" y="235008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SMS Services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0"/>
          <p:cNvSpPr/>
          <p:nvPr/>
        </p:nvSpPr>
        <p:spPr>
          <a:xfrm>
            <a:off x="7626240" y="235008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0AF"/>
                </a:solidFill>
                <a:effectLst/>
                <a:uFillTx/>
                <a:latin typeface="Calibri"/>
                <a:ea typeface="Calibri"/>
              </a:rPr>
              <a:t>Variable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1"/>
          <p:cNvSpPr/>
          <p:nvPr/>
        </p:nvSpPr>
        <p:spPr>
          <a:xfrm>
            <a:off x="6208920" y="2797920"/>
            <a:ext cx="2696760" cy="419760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2"/>
          <p:cNvSpPr/>
          <p:nvPr/>
        </p:nvSpPr>
        <p:spPr>
          <a:xfrm>
            <a:off x="6318360" y="282564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New Modules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43"/>
          <p:cNvSpPr/>
          <p:nvPr/>
        </p:nvSpPr>
        <p:spPr>
          <a:xfrm>
            <a:off x="7626240" y="2825640"/>
            <a:ext cx="120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0AF"/>
                </a:solidFill>
                <a:effectLst/>
                <a:uFillTx/>
                <a:latin typeface="Calibri"/>
                <a:ea typeface="Calibri"/>
              </a:rPr>
              <a:t>Project-based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4"/>
          <p:cNvSpPr/>
          <p:nvPr/>
        </p:nvSpPr>
        <p:spPr>
          <a:xfrm>
            <a:off x="0" y="4795920"/>
            <a:ext cx="914328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5"/>
          <p:cNvSpPr/>
          <p:nvPr/>
        </p:nvSpPr>
        <p:spPr>
          <a:xfrm>
            <a:off x="274320" y="48236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6"/>
          <p:cNvSpPr/>
          <p:nvPr/>
        </p:nvSpPr>
        <p:spPr>
          <a:xfrm>
            <a:off x="7772400" y="4823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6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292680" y="164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502920" y="128160"/>
            <a:ext cx="8320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Infrastructure Decision Matrix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502920" y="5670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Consultant-style comparison of deployment approaches for management decision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502920" y="868680"/>
            <a:ext cx="8320320" cy="26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5" name="Table 0"/>
          <p:cNvGraphicFramePr/>
          <p:nvPr/>
        </p:nvGraphicFramePr>
        <p:xfrm>
          <a:off x="502920" y="1024200"/>
          <a:ext cx="8320680" cy="2057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  <a:gridCol w="1920240"/>
              </a:tblGrid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Approach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Initial Cost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Reliability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Maint. Effort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Recommendation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1D1D1B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Own Server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CC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✗ Not Recommended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VPS Hosting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△ Acceptable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Current Cloud Stack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Low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Low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86BC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 Recommended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2FAE8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 / Azure Enterprise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Very 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Very High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040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✗ Overkill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E8E8E8"/>
                      </a:solidFill>
                      <a:prstDash val="solid"/>
                    </a:lnL>
                    <a:lnR w="5040">
                      <a:solidFill>
                        <a:srgbClr val="E8E8E8"/>
                      </a:solidFill>
                      <a:prstDash val="solid"/>
                    </a:lnR>
                    <a:lnT w="5040">
                      <a:solidFill>
                        <a:srgbClr val="E8E8E8"/>
                      </a:solidFill>
                      <a:prstDash val="solid"/>
                    </a:lnT>
                    <a:lnB w="5040">
                      <a:solidFill>
                        <a:srgbClr val="E8E8E8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46" name="Shape 5"/>
          <p:cNvSpPr/>
          <p:nvPr/>
        </p:nvSpPr>
        <p:spPr>
          <a:xfrm>
            <a:off x="502920" y="3520440"/>
            <a:ext cx="8320320" cy="1233720"/>
          </a:xfrm>
          <a:prstGeom prst="roundRect">
            <a:avLst>
              <a:gd name="adj" fmla="val 7407"/>
            </a:avLst>
          </a:prstGeom>
          <a:solidFill>
            <a:srgbClr val="F2FAE8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685800" y="35661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Management Takeaway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685800" y="3840480"/>
            <a:ext cx="79545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The managed cloud stack (Vercel + Render + Supabase) delivers the best balance of low entry cost, high reliability, and minimal administration burden for a 30-user internal ERP. Self-hosting introduces unnecessary capital risk; AWS/Azure would be significant overkill at the current business scale.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0" y="4795920"/>
            <a:ext cx="914328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274320" y="48236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7772400" y="4823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7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292680" y="164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502920" y="128160"/>
            <a:ext cx="8320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Scaling View &amp; Five-Year Cost Estimate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502920" y="5670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Phased spend growth — pay more only when usage increases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502920" y="868680"/>
            <a:ext cx="8320320" cy="26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7" name="Chart 0"/>
          <p:cNvGraphicFramePr/>
          <p:nvPr/>
        </p:nvGraphicFramePr>
        <p:xfrm>
          <a:off x="502920" y="987480"/>
          <a:ext cx="5119920" cy="3336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8" name="Shape 5"/>
          <p:cNvSpPr/>
          <p:nvPr/>
        </p:nvSpPr>
        <p:spPr>
          <a:xfrm>
            <a:off x="5943600" y="987480"/>
            <a:ext cx="287964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6035040" y="1005840"/>
            <a:ext cx="2696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5-Year Total Estimate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>
            <a:off x="5943600" y="1371600"/>
            <a:ext cx="2879640" cy="493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6035040" y="1408320"/>
            <a:ext cx="1828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Conservative Scenario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6035040" y="1618560"/>
            <a:ext cx="2696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₹2 Lakh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5943600" y="1938600"/>
            <a:ext cx="2879640" cy="493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6035040" y="1974960"/>
            <a:ext cx="1828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Moderate Growth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6035040" y="2185560"/>
            <a:ext cx="2696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₹3 Lakh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5943600" y="2505600"/>
            <a:ext cx="2879640" cy="493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6035040" y="2541960"/>
            <a:ext cx="1828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Production-Ready Path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6035040" y="2752200"/>
            <a:ext cx="2696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≈ ₹4 Lakh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6"/>
          <p:cNvSpPr/>
          <p:nvPr/>
        </p:nvSpPr>
        <p:spPr>
          <a:xfrm>
            <a:off x="5943600" y="3200400"/>
            <a:ext cx="2879640" cy="1123920"/>
          </a:xfrm>
          <a:prstGeom prst="roundRect">
            <a:avLst>
              <a:gd name="adj" fmla="val 6504"/>
            </a:avLst>
          </a:prstGeom>
          <a:solidFill>
            <a:srgbClr val="86BC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6053400" y="3255120"/>
            <a:ext cx="2651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Upgrade trigger areas: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6053400" y="3493080"/>
            <a:ext cx="2651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Backend capacity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6053400" y="3740040"/>
            <a:ext cx="2651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Database resources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6053400" y="3986640"/>
            <a:ext cx="2651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Storage volume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0" y="4795920"/>
            <a:ext cx="914328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274320" y="48236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7772400" y="4823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8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292680" y="164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502920" y="128160"/>
            <a:ext cx="8320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Return on Investment &amp; Business Benefits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502920" y="5670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ERP as a productivity and cost-saving tool — not just an infrastructure spend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502920" y="868680"/>
            <a:ext cx="8320320" cy="26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502920" y="1024200"/>
            <a:ext cx="2651040" cy="1462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502920" y="1024200"/>
            <a:ext cx="2651040" cy="633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631080" y="1134000"/>
            <a:ext cx="239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Paperless Approvals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631080" y="142632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Eliminates paper-based approval workflows across departments, reducing processing delays.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3337560" y="1024200"/>
            <a:ext cx="2651040" cy="1462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0"/>
          <p:cNvSpPr/>
          <p:nvPr/>
        </p:nvSpPr>
        <p:spPr>
          <a:xfrm>
            <a:off x="3337560" y="1024200"/>
            <a:ext cx="2651040" cy="633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3465720" y="1134000"/>
            <a:ext cx="239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Faster Reporting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3465720" y="142632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Automated report generation replaces manual data compilation, saving hours per cycle.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6172200" y="1024200"/>
            <a:ext cx="2651040" cy="1462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4"/>
          <p:cNvSpPr/>
          <p:nvPr/>
        </p:nvSpPr>
        <p:spPr>
          <a:xfrm>
            <a:off x="6172200" y="1024200"/>
            <a:ext cx="2651040" cy="633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6300360" y="1134000"/>
            <a:ext cx="239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Centralised Documents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6300360" y="142632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Single source of truth for all project documents, replacing fragmented storage.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7"/>
          <p:cNvSpPr/>
          <p:nvPr/>
        </p:nvSpPr>
        <p:spPr>
          <a:xfrm>
            <a:off x="502920" y="2624400"/>
            <a:ext cx="2651040" cy="1462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8"/>
          <p:cNvSpPr/>
          <p:nvPr/>
        </p:nvSpPr>
        <p:spPr>
          <a:xfrm>
            <a:off x="502920" y="2624400"/>
            <a:ext cx="2651040" cy="633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9"/>
          <p:cNvSpPr/>
          <p:nvPr/>
        </p:nvSpPr>
        <p:spPr>
          <a:xfrm>
            <a:off x="631080" y="2734200"/>
            <a:ext cx="239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Reduced Entry Errors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631080" y="302652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Structured data entry minimises manual input mistakes and rework costs.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1"/>
          <p:cNvSpPr/>
          <p:nvPr/>
        </p:nvSpPr>
        <p:spPr>
          <a:xfrm>
            <a:off x="3337560" y="2624400"/>
            <a:ext cx="2651040" cy="1462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2"/>
          <p:cNvSpPr/>
          <p:nvPr/>
        </p:nvSpPr>
        <p:spPr>
          <a:xfrm>
            <a:off x="3337560" y="2624400"/>
            <a:ext cx="2651040" cy="633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3"/>
          <p:cNvSpPr/>
          <p:nvPr/>
        </p:nvSpPr>
        <p:spPr>
          <a:xfrm>
            <a:off x="3465720" y="2734200"/>
            <a:ext cx="239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Real-Time Tracking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4"/>
          <p:cNvSpPr/>
          <p:nvPr/>
        </p:nvSpPr>
        <p:spPr>
          <a:xfrm>
            <a:off x="3465720" y="302652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Live project status and cost visibility improves decision-making at every level.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5"/>
          <p:cNvSpPr/>
          <p:nvPr/>
        </p:nvSpPr>
        <p:spPr>
          <a:xfrm>
            <a:off x="6172200" y="2624400"/>
            <a:ext cx="2651040" cy="1462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6"/>
          <p:cNvSpPr/>
          <p:nvPr/>
        </p:nvSpPr>
        <p:spPr>
          <a:xfrm>
            <a:off x="6172200" y="2624400"/>
            <a:ext cx="2651040" cy="633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7"/>
          <p:cNvSpPr/>
          <p:nvPr/>
        </p:nvSpPr>
        <p:spPr>
          <a:xfrm>
            <a:off x="6300360" y="2734200"/>
            <a:ext cx="239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Audit Readiness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8"/>
          <p:cNvSpPr/>
          <p:nvPr/>
        </p:nvSpPr>
        <p:spPr>
          <a:xfrm>
            <a:off x="6300360" y="3026520"/>
            <a:ext cx="2395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Built-in audit trails and role-based access simplify compliance and reviews.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9"/>
          <p:cNvSpPr/>
          <p:nvPr/>
        </p:nvSpPr>
        <p:spPr>
          <a:xfrm>
            <a:off x="0" y="4795920"/>
            <a:ext cx="9143280" cy="346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0"/>
          <p:cNvSpPr/>
          <p:nvPr/>
        </p:nvSpPr>
        <p:spPr>
          <a:xfrm>
            <a:off x="274320" y="48236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SN Polymers Pvt. Ltd. | Infrastructure Cost Report 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1"/>
          <p:cNvSpPr/>
          <p:nvPr/>
        </p:nvSpPr>
        <p:spPr>
          <a:xfrm>
            <a:off x="7772400" y="4823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9 / 10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6583680" y="0"/>
            <a:ext cx="2559600" cy="514296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502920" y="320040"/>
            <a:ext cx="5851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49" strike="noStrike">
                <a:solidFill>
                  <a:srgbClr val="86BC25"/>
                </a:solidFill>
                <a:effectLst/>
                <a:uFillTx/>
                <a:latin typeface="Calibri"/>
                <a:ea typeface="Calibri"/>
              </a:rPr>
              <a:t>FINAL RECOMMENDATION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"/>
          <p:cNvSpPr/>
          <p:nvPr/>
        </p:nvSpPr>
        <p:spPr>
          <a:xfrm>
            <a:off x="502920" y="621720"/>
            <a:ext cx="585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Phased Cloud Adoption Strategy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502920" y="1115640"/>
            <a:ext cx="5851440" cy="26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4"/>
          <p:cNvSpPr/>
          <p:nvPr/>
        </p:nvSpPr>
        <p:spPr>
          <a:xfrm>
            <a:off x="502920" y="1280160"/>
            <a:ext cx="419760" cy="419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502920" y="128016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6"/>
          <p:cNvSpPr/>
          <p:nvPr/>
        </p:nvSpPr>
        <p:spPr>
          <a:xfrm>
            <a:off x="1024200" y="1280160"/>
            <a:ext cx="5302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Cheap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1024200" y="1527120"/>
            <a:ext cx="5302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Deploy on Vercel Hobby + Render Starter + Supabase Free. Approx. ₹700/month. Ideal for pilot and controlled rollout.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502920" y="2212920"/>
            <a:ext cx="419760" cy="419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9"/>
          <p:cNvSpPr/>
          <p:nvPr/>
        </p:nvSpPr>
        <p:spPr>
          <a:xfrm>
            <a:off x="502920" y="221292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0"/>
          <p:cNvSpPr/>
          <p:nvPr/>
        </p:nvSpPr>
        <p:spPr>
          <a:xfrm>
            <a:off x="1024200" y="2212920"/>
            <a:ext cx="5302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 Production-Ready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1"/>
          <p:cNvSpPr/>
          <p:nvPr/>
        </p:nvSpPr>
        <p:spPr>
          <a:xfrm>
            <a:off x="1024200" y="2459880"/>
            <a:ext cx="5302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Upgrade to Supabase Pro + Vercel Pro at go-live. Approx. ₹4,500/month with full backups and reliability.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2"/>
          <p:cNvSpPr/>
          <p:nvPr/>
        </p:nvSpPr>
        <p:spPr>
          <a:xfrm>
            <a:off x="502920" y="3145680"/>
            <a:ext cx="419760" cy="419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502920" y="314568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4"/>
          <p:cNvSpPr/>
          <p:nvPr/>
        </p:nvSpPr>
        <p:spPr>
          <a:xfrm>
            <a:off x="1024200" y="3145680"/>
            <a:ext cx="5302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Scale When Business Grows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5"/>
          <p:cNvSpPr/>
          <p:nvPr/>
        </p:nvSpPr>
        <p:spPr>
          <a:xfrm>
            <a:off x="1024200" y="3392280"/>
            <a:ext cx="5302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Increase infrastructure investment only when user count or transaction volume materially increases beyond 30 users.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502920" y="4206240"/>
            <a:ext cx="585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This approach is cost-effective for current scale, scalable for future growth, and avoids premature enterprise investment.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7"/>
          <p:cNvSpPr/>
          <p:nvPr/>
        </p:nvSpPr>
        <p:spPr>
          <a:xfrm>
            <a:off x="6720840" y="640080"/>
            <a:ext cx="2285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Principles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8"/>
          <p:cNvSpPr/>
          <p:nvPr/>
        </p:nvSpPr>
        <p:spPr>
          <a:xfrm>
            <a:off x="6720840" y="1371600"/>
            <a:ext cx="2285280" cy="1005120"/>
          </a:xfrm>
          <a:prstGeom prst="roundRect">
            <a:avLst>
              <a:gd name="adj" fmla="val 7273"/>
            </a:avLst>
          </a:prstGeom>
          <a:solidFill>
            <a:srgbClr val="4A7A29"/>
          </a:solidFill>
          <a:ln w="12700">
            <a:solidFill>
              <a:srgbClr val="4A7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9"/>
          <p:cNvSpPr/>
          <p:nvPr/>
        </p:nvSpPr>
        <p:spPr>
          <a:xfrm>
            <a:off x="6812280" y="1417320"/>
            <a:ext cx="2102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with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minimum viable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0"/>
          <p:cNvSpPr/>
          <p:nvPr/>
        </p:nvSpPr>
        <p:spPr>
          <a:xfrm>
            <a:off x="6720840" y="2514600"/>
            <a:ext cx="2285280" cy="1005120"/>
          </a:xfrm>
          <a:prstGeom prst="roundRect">
            <a:avLst>
              <a:gd name="adj" fmla="val 7273"/>
            </a:avLst>
          </a:prstGeom>
          <a:solidFill>
            <a:srgbClr val="4A7A29"/>
          </a:solidFill>
          <a:ln w="12700">
            <a:solidFill>
              <a:srgbClr val="4A7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1"/>
          <p:cNvSpPr/>
          <p:nvPr/>
        </p:nvSpPr>
        <p:spPr>
          <a:xfrm>
            <a:off x="6812280" y="2560320"/>
            <a:ext cx="2102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Upgrade at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business milestones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2"/>
          <p:cNvSpPr/>
          <p:nvPr/>
        </p:nvSpPr>
        <p:spPr>
          <a:xfrm>
            <a:off x="6720840" y="3657600"/>
            <a:ext cx="2285280" cy="1005120"/>
          </a:xfrm>
          <a:prstGeom prst="roundRect">
            <a:avLst>
              <a:gd name="adj" fmla="val 7273"/>
            </a:avLst>
          </a:prstGeom>
          <a:solidFill>
            <a:srgbClr val="4A7A29"/>
          </a:solidFill>
          <a:ln w="12700">
            <a:solidFill>
              <a:srgbClr val="4A7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3"/>
          <p:cNvSpPr/>
          <p:nvPr/>
        </p:nvSpPr>
        <p:spPr>
          <a:xfrm>
            <a:off x="6812280" y="3703320"/>
            <a:ext cx="2102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Never over-invest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ahead of demand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4"/>
          <p:cNvSpPr/>
          <p:nvPr/>
        </p:nvSpPr>
        <p:spPr>
          <a:xfrm>
            <a:off x="0" y="4851000"/>
            <a:ext cx="6582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SN Polymers Pvt. Ltd.  |  2026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LibreOffice/26.2.1.2$Linux_X86_64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2026-06-28T11:35:42Z</dcterms:created>
  <dc:creator>PptxGenJS</dc:creator>
  <dc:description/>
  <dc:language>en-IN</dc:language>
  <cp:lastModifiedBy/>
  <dcterms:modified xsi:type="dcterms:W3CDTF">2026-06-28T17:54:20Z</dcterms:modified>
  <cp:revision>4</cp:revision>
  <dc:subject>PptxGenJS Presentation</dc:subject>
  <dc:title>Infrastructure Cost Report — SN Polymers Pvt. Ltd.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